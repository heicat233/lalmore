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66344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《移动应用开发及安全》期末大作业汇报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附近厕所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3364992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9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搜得到 · 看得懂 · 走得到 —— 公共厕所查询 / 评价 / 导航 App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97196" y="4114800"/>
            <a:ext cx="2194560" cy="0"/>
          </a:xfrm>
          <a:prstGeom prst="line">
            <a:avLst/>
          </a:prstGeom>
          <a:noFill/>
          <a:ln w="3175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项目组：【组长姓名】 · 【成员B】 · 【成员C】        指导教师：【教师姓名】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12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60152" cy="2743200"/>
          </a:xfrm>
          <a:prstGeom prst="roundRect">
            <a:avLst>
              <a:gd name="adj" fmla="val 3333"/>
            </a:avLst>
          </a:prstGeom>
          <a:solidFill>
            <a:srgbClr val="E8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1488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743200"/>
            <a:ext cx="9628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一款帮用户在陌生环境里</a:t>
            </a:r>
            <a:endParaRPr lang="en-US" sz="28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「快速找到干净厕所并走过去」的本地工具 App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E8F6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25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快：急用时立刻找到最近的公共厕所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准：结果要真的近，而不是按平台权重排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明：提前知道有没有纸、干不干净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顺：一步导航过去，不用来回切换应用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43891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目标用户：游客、通勤的上班族与学生、户外工作者、带小孩的家庭。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143000"/>
            <a:ext cx="7845552" cy="896112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14300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定位与搜索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89320" y="1143000"/>
            <a:ext cx="5513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用户定位 · F2 周边搜索 · F3 距离排序 · F4 地图展示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2194560"/>
            <a:ext cx="7845552" cy="896112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19456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详情与评价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9320" y="2194560"/>
            <a:ext cx="5513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F5 厕所详情 · F7 发布评价（星级 + 标签 + 三项指标）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200" y="3246120"/>
            <a:ext cx="7845552" cy="896112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24612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账号与榜单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9320" y="3246120"/>
            <a:ext cx="5513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F6 用户账号 · F8 排行榜 · F9 步行导航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4343400"/>
            <a:ext cx="7845552" cy="1371600"/>
          </a:xfrm>
          <a:prstGeom prst="roundRect">
            <a:avLst>
              <a:gd name="adj" fmla="val 5333"/>
            </a:avLst>
          </a:prstGeom>
          <a:solidFill>
            <a:srgbClr val="E8F6F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44622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8463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易用性：主流程不超过 3 步   |   稳定性：权限拒绝、断网、未装第三方地图不崩溃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性能：列表差量刷新，冷启动优先展示缓存   |   安全性：密码不明文存储   |   兼容性：最低支持 Android 8.0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系统设计：三层架构 + 统一数据出口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0FA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35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/ 榜单 / 我的（Fragment）· 地图页 / 详情页 / 登录页（Activity）· 各列表 Adapter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133502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展示与交互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2377440"/>
            <a:ext cx="0" cy="228600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52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数据仓库层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ToiletRepository（object 单例）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75234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→ 逆地理 → POI → 排序 → 缓存 → 聚合，各页面共用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4476" y="3794760"/>
            <a:ext cx="0" cy="228600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02336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0FA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9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Room（toilets / reviews / users）· 高德 SDK · SharedPreferences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41696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持久化、外部服务、轻量键值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7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32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页面结构：底部三 Tab（首页 / 榜单 / 我的）+ 地图页 / 详情页 / 登录页；Repository 是唯一数据出口，保证多页面数据一致。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数据库设计：Room 三表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7F9FA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2646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users（用户表）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1883664"/>
            <a:ext cx="27980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主键，自增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 唯一索引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passwordHash 密码哈希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salt 随机盐值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nickname 昵称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createdAt 注册时间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280160"/>
            <a:ext cx="3200400" cy="2926080"/>
          </a:xfrm>
          <a:prstGeom prst="roundRect">
            <a:avLst>
              <a:gd name="adj" fmla="val 2188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1728" y="142646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reviews（评价表）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1728" y="1883664"/>
            <a:ext cx="27980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主键，自增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toiletId 外键 → toilets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userId 外键 → users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rating 星级 1~5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评价内容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tags 标签，逗号分隔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paperStatus / sinkType / cleaned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createdAt 发布时间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0" y="128016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7F9FA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13648" y="142646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toilets（厕所表）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13648" y="1883664"/>
            <a:ext cx="27980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主键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复用高德 POI 唯一标识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名称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 地址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 / lng 经纬度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createdAt 入库时间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22192" y="22860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2468880"/>
            <a:ext cx="6400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0" y="22860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: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54112" y="2468880"/>
            <a:ext cx="6400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452628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设计合理性：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厕所表主键直接复用高德 POI 唯一标识，地图点位与数据库记录一一对应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结构化数据进数据库，登录态、最近定位等轻量数据进 SharedPreferences 文件，形成两级存储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密码采用「随机盐 + 哈希」方式存储，不保存明文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①：定位与周边搜索的数据流水线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隐私合规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初始化地图 SDK 前完成隐私声明，否则定位失败、地图白屏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280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56632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混合定位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07992" y="20116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GPS / Wi-Fi / 基站信号获取经纬度，精度约 30m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280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78824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逆地理兜底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30184" y="20116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城市字段为空时，用经纬度反向查询补齐城市区县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 圆形检索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以用户为圆心、3km 为半径检索「公共厕所」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3429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07992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56632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距离排序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07992" y="41605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对结果重新计算球面距离并按由近到远排序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3429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0184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78824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缓存与聚合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30184" y="41605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结果写入数据库，并聚合评价统计后返回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代码位置：ToiletRepository.kt（数据流水线单例）· ToiletApp.kt（隐私合规）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②：距离排序算法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为什么自己算距离？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地图平台默认按综合权重排序，权重包含热度、等级等因素，并不等于「离用户近」。本项目对结果重新计算真实距离并升序排序，让「附近」名副其实。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5577840" cy="3108960"/>
          </a:xfrm>
          <a:prstGeom prst="roundRect">
            <a:avLst>
              <a:gd name="adj" fmla="val 2353"/>
            </a:avLst>
          </a:prstGeom>
          <a:solidFill>
            <a:srgbClr val="E8F6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Haversine 球面距离公式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sin²(Δφ/2) + cosφ₁ · cosφ₂ · sin²(Δλ/2)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 · atan2(√a, √(1−a))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R · c   （R = 6371000 米）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纬度、λ 经度、R 地球半径；几公里范围内相对误差小于 0.5%。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54223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为什么不用平面勾股定理？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地球近似球体，经线长度随纬度升高而缩短。直接对经纬度使用平面勾股定理，在城市尺度上会产生米级以上误差。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Haversine 把经纬度视为球面角距换算成弧长，精度与计算效率兼顾。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为什么不用更精确的椭球算法？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考虑地球椭率的算法计算量更大，而本项目只需几公里范围的排序，Haversine 已完全够用。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代码位置：util/DistanceUtil.kt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③：结构化指标卡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设计来源：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把公共厕所最受关注的三个维度提取为结构化指标，让用户在出发前就能判断实际条件。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02996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厕纸供应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54203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没纸 / 偶尔有 / 充足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202996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洗手台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54203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/ 公共 / 独立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18288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76672" y="202996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清理除味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6672" y="254203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无专人 / 有专人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694944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57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指标卡的两行展示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411480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结论行：展示最新一条评价的指标取值，反映最新使用者的真实反馈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统计行：展示所有填写者中的占比，例如「12/15 人表示有纸」，避免单条评价的偶然性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录入方式：发布评价时单选录入，默认已选，填写成本低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数据来源：全部来自用户评价（UGC），无需接入官方数据源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1143000"/>
            <a:ext cx="4050792" cy="4892040"/>
          </a:xfrm>
          <a:prstGeom prst="roundRect">
            <a:avLst>
              <a:gd name="adj" fmla="val 1354"/>
            </a:avLst>
          </a:prstGeom>
          <a:solidFill>
            <a:srgbClr val="F3F6F7"/>
          </a:solidFill>
          <a:ln w="12700">
            <a:solidFill>
              <a:srgbClr val="B9C6C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680960" y="1143000"/>
            <a:ext cx="4050792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此处贴真机截图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详情页指标卡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④：评价、榜单与用户体系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评价数据模型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星级 1~5 + 文字内容 + 发布者（userId 外键）+ 时间戳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标签：纸巾充足 / 干净卫生 / 免费 / 好找 / 不用排队（多选，逗号入库）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指标三项：paperStatus / sinkType / cleaned（整型编码，-1 未填）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92240" y="1188720"/>
            <a:ext cx="5239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实时榜单算法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好评榜：均分降序，同分按评价数多者优先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热评榜：评价条数降序，反映数据热度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前三名金 / 银 / 铜奖牌；数据源与首页同源，发布即变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1274552" cy="2194560"/>
          </a:xfrm>
          <a:prstGeom prst="roundRect">
            <a:avLst>
              <a:gd name="adj" fmla="val 3333"/>
            </a:avLst>
          </a:prstGeom>
          <a:solidFill>
            <a:srgbClr val="E8F6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107259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用户体系（本地账号）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发布评价强制登录，未登录自动跳转登录页，保证评价可追溯到账号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表 username 唯一索引防重复注册；密码长度不足会被拒绝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密码以「随机盐 + 哈希」方式落库：每用户随机生成 16 字节盐值，相同密码在不同用户处哈希值不同，彩虹表失效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⑤：步行导航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949440" cy="1874520"/>
          </a:xfrm>
          <a:prstGeom prst="roundRect">
            <a:avLst>
              <a:gd name="adj" fmla="val 3902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深链唤起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通过隐式 Intent 匹配高德导航协议，携带目的地经纬度直接唤起步行导航，无需引入重量级导航 SDK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6949440" cy="1874520"/>
          </a:xfrm>
          <a:prstGeom prst="roundRect">
            <a:avLst>
              <a:gd name="adj" fmla="val 3902"/>
            </a:avLst>
          </a:prstGeom>
          <a:solidFill>
            <a:srgbClr val="F7F9FA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767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网页回退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当设备未安装高德地图时，系统会抛出异常；应用捕获后自动回退到网页版导航，保证所有机型可用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959352" cy="4069080"/>
          </a:xfrm>
          <a:prstGeom prst="roundRect">
            <a:avLst>
              <a:gd name="adj" fmla="val 1848"/>
            </a:avLst>
          </a:prstGeom>
          <a:solidFill>
            <a:srgbClr val="E8F6F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0" y="21945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21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包体小：不引入额外导航 SDK</a:t>
            </a:r>
            <a:endParaRPr lang="en-US" sz="1300" dirty="0"/>
          </a:p>
          <a:p>
            <a:pPr marL="152400" indent="-152400">
              <a:lnSpc>
                <a:spcPts val="21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覆盖广：已装高德直接跳转，未装则回退网页版</a:t>
            </a:r>
            <a:endParaRPr lang="en-US" sz="1300" dirty="0"/>
          </a:p>
          <a:p>
            <a:pPr marL="152400" indent="-152400">
              <a:lnSpc>
                <a:spcPts val="21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体验顺：从详情页一步进入导航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设计思路：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采用蓝绿品牌色系，信息层次清晰，兼顾美观与信息密度，减少无效操作。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首页：渐变头部 + 定位搜索区 + 快捷入口 + 信息流卡片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地图页：全屏地图，蓝点定位与 Marker 清晰可辨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详情页：头图与卡片颜色联动，指标卡突出显示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榜单页：排名清晰，前三名使用金银铜奖牌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我的页：账号信息、我的评价与演示数据入口</a:t>
            </a:r>
            <a:endParaRPr lang="en-US" sz="1300" dirty="0"/>
          </a:p>
          <a:p>
            <a:pPr marL="152400" indent="-1524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登录页：登录与注册双模式，校验提示明确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E8F6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507492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交互细节：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列表差量刷新、未登录引导登录、定位/搜索异常均有明确提示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1143000"/>
            <a:ext cx="4965192" cy="4983480"/>
          </a:xfrm>
          <a:prstGeom prst="roundRect">
            <a:avLst>
              <a:gd name="adj" fmla="val 1105"/>
            </a:avLst>
          </a:prstGeom>
          <a:solidFill>
            <a:srgbClr val="F3F6F7"/>
          </a:solidFill>
          <a:ln w="12700">
            <a:solidFill>
              <a:srgbClr val="B9C6C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766560" y="1143000"/>
            <a:ext cx="4965192" cy="4983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此处贴真机截图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首页信息流 / 地图 Marker / 详情指标卡 / 榜单 / 登录页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团队协同与项目管理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主要贡献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【组长姓名】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三层架构与 Repository 设计；地图与检索、数据存储、评价与榜单、登录模块、界面设计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【成员B】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部分功能开发、界面适配、测试记录与缺陷修复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【成员C】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项目文档、演示脚本、测试组织与材料整理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6675120" cy="2240280"/>
          </a:xfrm>
          <a:prstGeom prst="roundRect">
            <a:avLst>
              <a:gd name="adj" fmla="val 3265"/>
            </a:avLst>
          </a:prstGeom>
          <a:solidFill>
            <a:srgbClr val="E8F6F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050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462272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认领任务（Issue）→ 创建功能分支 → 本地开发提交 → 推送分支 → 发起 Pull Request → 组员评审留言 → 合并到主分支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提交规范：feat 新增功能 / fix 修复缺陷 / docs 文档变更 / chore 构建配置，统一前缀加中文说明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1188720"/>
            <a:ext cx="4325112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管理成果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18745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21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仓库累计 31 次规范提交</a:t>
            </a:r>
            <a:endParaRPr lang="en-US" sz="1300" dirty="0"/>
          </a:p>
          <a:p>
            <a:pPr marL="152400" indent="-152400">
              <a:lnSpc>
                <a:spcPts val="21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主分支始终保持可运行</a:t>
            </a:r>
            <a:endParaRPr lang="en-US" sz="1300" dirty="0"/>
          </a:p>
          <a:p>
            <a:pPr marL="152400" indent="-152400">
              <a:lnSpc>
                <a:spcPts val="21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分支开发 + PR 评审机制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3749040"/>
            <a:ext cx="4325112" cy="2377440"/>
          </a:xfrm>
          <a:prstGeom prst="roundRect">
            <a:avLst>
              <a:gd name="adj" fmla="val 2308"/>
            </a:avLst>
          </a:prstGeom>
          <a:solidFill>
            <a:srgbClr val="F3F6F7"/>
          </a:solidFill>
          <a:ln w="12700">
            <a:solidFill>
              <a:srgbClr val="B9C6CB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406640" y="3749040"/>
            <a:ext cx="4325112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此处贴截图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贡献者统计 / commit 历史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350" dirty="0"/>
          </a:p>
          <a:p>
            <a:pPr indent="0" marL="0">
              <a:lnSpc>
                <a:spcPts val="22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「找厕所」这一真实高频场景，完成了从需求分析、方案设计、编码实现到测试验收的完整开发过程，实现了定位、周边搜索、距离排序、地图标注、厕所详情、用户账号、评价发布、排行榜与步行导航等核心功能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</a:t>
            </a:r>
            <a:endParaRPr lang="en-US" sz="1350" dirty="0"/>
          </a:p>
          <a:p>
            <a:pPr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数据保存在本地，评价无法跨设备共享 —— 后续接入云端服务实现同步</a:t>
            </a:r>
            <a:endParaRPr lang="en-US" sz="1350" dirty="0"/>
          </a:p>
          <a:p>
            <a:pPr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密码使用快速哈希算法 —— 生产环境改用 BCrypt、Argon2 等专用慢哈希</a:t>
            </a:r>
            <a:endParaRPr lang="en-US" sz="1350" dirty="0"/>
          </a:p>
          <a:p>
            <a:pPr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缺少厕所实拍图片与即时状态上报 —— 后续增加图片与实时状态功能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50292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8F6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29200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未来展望：云端化实现评价共享与账号互通 · 增加图片与实时状态 · 完善无障碍与适老化设计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14476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欢迎现场体验 · 恳请批评指正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附近厕所项目组</dc:creator>
  <cp:lastModifiedBy>附近厕所项目组</cp:lastModifiedBy>
  <cp:revision>1</cp:revision>
  <dcterms:created xsi:type="dcterms:W3CDTF">2026-10-12T03:14:32Z</dcterms:created>
  <dcterms:modified xsi:type="dcterms:W3CDTF">2026-10-12T03:14:32Z</dcterms:modified>
</cp:coreProperties>
</file>