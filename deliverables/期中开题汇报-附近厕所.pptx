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57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645920"/>
            <a:ext cx="3840480" cy="38404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811512" y="4663440"/>
            <a:ext cx="3291840" cy="3291840"/>
          </a:xfrm>
          <a:prstGeom prst="ellipse">
            <a:avLst/>
          </a:prstGeom>
          <a:solidFill>
            <a:srgbClr val="FFFFFF">
              <a:alpha val="7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41732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FE8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《移动应用开发及安全》期中开题汇报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2057400"/>
            <a:ext cx="11274552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附近厕所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457200" y="3401568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9F2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基于高德地图的公共厕所查询 · 评价 · 导航 App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997196" y="4160520"/>
            <a:ext cx="2194560" cy="0"/>
          </a:xfrm>
          <a:prstGeom prst="line">
            <a:avLst/>
          </a:prstGeom>
          <a:noFill/>
          <a:ln w="3175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434840"/>
            <a:ext cx="112745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ED4D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项目组：【组长姓名】·【成员B】·【成员C】        指导教师：【教师姓名】        2026 年 10 月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489204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ED4D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汇报人：【组长姓名】  学号：【学号】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6D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汇报提纲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11000232" y="329184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B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1005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A6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600200" y="1252728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选题背景与需求分析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00200" y="1764792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四个真实痛点 → 一款工具 App 的立项依据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600200" y="2313432"/>
            <a:ext cx="96012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468880"/>
            <a:ext cx="1005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A6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00200" y="2487168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产品设计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600200" y="2999232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页面结构、功能清单与考核点映射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600200" y="3547872"/>
            <a:ext cx="96012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3703320"/>
            <a:ext cx="1005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A6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1600200" y="3721608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技术路线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600200" y="4233672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选型理由、三层架构、数据库设计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1600200" y="4782312"/>
            <a:ext cx="96012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4937760"/>
            <a:ext cx="1005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A6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1600200" y="4956048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进度·分工·风险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600200" y="5468112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当前完成度、迭代计划、风险预案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6D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选题背景：出门在外，「方便」这件事不方便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11000232" y="329184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B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252728"/>
            <a:ext cx="566928" cy="566928"/>
          </a:xfrm>
          <a:prstGeom prst="ellipse">
            <a:avLst/>
          </a:prstGeom>
          <a:solidFill>
            <a:srgbClr val="E8F6F6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2527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6D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25880" y="114300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急用时找不到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25880" y="1563624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陌生街区、景区、夜间场景下，地图 App 搜索结果杂乱，混入商场内部点位与已关闭点位，试错成本高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2551176"/>
            <a:ext cx="566928" cy="566928"/>
          </a:xfrm>
          <a:prstGeom prst="ellipse">
            <a:avLst/>
          </a:prstGeom>
          <a:solidFill>
            <a:srgbClr val="E8F6F6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25511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6D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25880" y="2441448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好坏无从判断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25880" y="2862072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公共厕所普遍缺少评价体系：有没有纸、干不干净、要不要排队，全凭运气，找到才发现不能用的体验很糟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3849624"/>
            <a:ext cx="566928" cy="566928"/>
          </a:xfrm>
          <a:prstGeom prst="ellipse">
            <a:avLst/>
          </a:prstGeom>
          <a:solidFill>
            <a:srgbClr val="E8F6F6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384962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6D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25880" y="3739896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信息不结构化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25880" y="4160520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厕纸供应、洗手台类型、是否有人清理等关键信息没有任何平台收录，用户无法提前决策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457200" y="5148072"/>
            <a:ext cx="566928" cy="566928"/>
          </a:xfrm>
          <a:prstGeom prst="ellipse">
            <a:avLst/>
          </a:prstGeom>
          <a:solidFill>
            <a:srgbClr val="E8F6F6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51480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6D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325880" y="5038344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流程割裂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25880" y="545896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从「搜到」到「走到」需要在地图、点评类 App 之间反复跳转，急迫场景下体验很差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6D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解决方案：一款「搜得到 · 看得懂 · 走得到」的工具 App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11000232" y="329184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B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14300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900" b="1" dirty="0">
                <a:solidFill>
                  <a:srgbClr val="006D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定位用户 3km 内的公共厕所，按真实步行距离排序，</a:t>
            </a:r>
            <a:endParaRPr lang="en-US" sz="19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900" b="1" dirty="0">
                <a:solidFill>
                  <a:srgbClr val="006D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用结构化指标与本地评价呈现「好坏」，再一键深链步行导航。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57200" y="2286000"/>
            <a:ext cx="3611880" cy="3566160"/>
          </a:xfrm>
          <a:prstGeom prst="roundRect">
            <a:avLst>
              <a:gd name="adj" fmla="val 2308"/>
            </a:avLst>
          </a:prstGeom>
          <a:solidFill>
            <a:srgbClr val="F7F9FA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2578608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6D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搜得到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A6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 + 3km 圆形 POI 检索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31520" y="3703320"/>
            <a:ext cx="3063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高德混合定位（GPS/WiFi/基站），周边搜索关键词「公共厕所」，结果按 Haversine 球面距离由近到远排序（城市尺度误差 &lt; 0.5%）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79392" y="2286000"/>
            <a:ext cx="3611880" cy="3566160"/>
          </a:xfrm>
          <a:prstGeom prst="roundRect">
            <a:avLst>
              <a:gd name="adj" fmla="val 2308"/>
            </a:avLst>
          </a:prstGeom>
          <a:solidFill>
            <a:srgbClr val="E8F6F6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53712" y="2578608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6D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看得懂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4553712" y="32004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A6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指标卡 + 标签 + 评价流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553712" y="3703320"/>
            <a:ext cx="3063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厕纸供应 / 洗手台类型 / 清理除味三项结构化指标，配合「大家都在说」标签统计与本地评价，好坏一目了然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01584" y="2286000"/>
            <a:ext cx="3611880" cy="3566160"/>
          </a:xfrm>
          <a:prstGeom prst="roundRect">
            <a:avLst>
              <a:gd name="adj" fmla="val 2308"/>
            </a:avLst>
          </a:prstGeom>
          <a:solidFill>
            <a:srgbClr val="F7F9FA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375904" y="2578608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6D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走得到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8375904" y="32004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A6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深链导航 + 网页回退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375904" y="3703320"/>
            <a:ext cx="3063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amapuri:// 直达高德步行导航；未安装高德时自动回退 uri.amap.com 网页导航，全机型可用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6D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需求分析：功能清单与考核点映射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11000232" y="329184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B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1127455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6583680"/>
                <a:gridCol w="2953512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功能模块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D6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实现要点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D6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对应考核点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D6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定位与蓝点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高德混合定位 + 逆地理编码显示城市区名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地图定位（10分）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周边搜索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3km 圆形范围 POI 检索「公共厕所」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地图定位（10分）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距离排序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Haversine 球面距离升序，本地重算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创新性和实用性（10分）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厕所详情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头图 + 信息卡 + 三格指标卡 + 标签统计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界面设计（10分）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评价系统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登录后发布：星级 + 标签 + 三指标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数据存储（10分）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排行榜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好评榜（均分）/ 热评榜（条数），前三名奖牌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创新性和实用性（10分）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步行导航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URL Scheme 深链 + 网页版回退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地图定位（10分）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本地账号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注册登录，SHA-256 加盐存密码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数据存储（10分）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Git 协同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feature 分支 + PR + 规范 commit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团队协同（10分）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6D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产品设计：页面结构与用户路径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11000232" y="329184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B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210312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2700">
            <a:solidFill>
              <a:srgbClr val="00A6A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554480"/>
            <a:ext cx="2103120" cy="777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启动 / 登录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1B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（本地账号）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3657600" y="1554480"/>
            <a:ext cx="2377440" cy="777240"/>
          </a:xfrm>
          <a:prstGeom prst="roundRect">
            <a:avLst>
              <a:gd name="adj" fmla="val 8235"/>
            </a:avLst>
          </a:prstGeom>
          <a:solidFill>
            <a:srgbClr val="006D6D"/>
          </a:solidFill>
          <a:ln w="12700">
            <a:solidFill>
              <a:srgbClr val="00A6A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657600" y="1554480"/>
            <a:ext cx="2377440" cy="777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首页信息流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定位城市 + 3km 列表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223760" y="685800"/>
            <a:ext cx="219456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2700">
            <a:solidFill>
              <a:srgbClr val="00A6A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223760" y="685800"/>
            <a:ext cx="2194560" cy="777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地图找厕所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1B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蓝点 + Marker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7223760" y="2514600"/>
            <a:ext cx="219456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2700">
            <a:solidFill>
              <a:srgbClr val="00A6A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223760" y="2514600"/>
            <a:ext cx="2194560" cy="777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厕所详情页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1B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指标卡 + 评价流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10058400" y="685800"/>
            <a:ext cx="169164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2700">
            <a:solidFill>
              <a:srgbClr val="00A6A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0058400" y="685800"/>
            <a:ext cx="1691640" cy="777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步行导航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1B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深链 / 网页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10058400" y="2514600"/>
            <a:ext cx="169164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2700">
            <a:solidFill>
              <a:srgbClr val="00A6A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0058400" y="2514600"/>
            <a:ext cx="1691640" cy="777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发布评价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1B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星级+标签+指标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3657600" y="3977640"/>
            <a:ext cx="237744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2700">
            <a:solidFill>
              <a:srgbClr val="00A6A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657600" y="3977640"/>
            <a:ext cx="2377440" cy="777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榜单页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1B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好评榜 / 热评榜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7223760" y="3977640"/>
            <a:ext cx="219456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2700">
            <a:solidFill>
              <a:srgbClr val="00A6A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223760" y="3977640"/>
            <a:ext cx="2194560" cy="777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我的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1B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账号 + 我的评价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2743200" y="1938528"/>
            <a:ext cx="914400" cy="0"/>
          </a:xfrm>
          <a:prstGeom prst="line">
            <a:avLst/>
          </a:prstGeom>
          <a:noFill/>
          <a:ln w="25400">
            <a:solidFill>
              <a:srgbClr val="00A6A6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035040" y="1069848"/>
            <a:ext cx="1188720" cy="0"/>
          </a:xfrm>
          <a:prstGeom prst="line">
            <a:avLst/>
          </a:prstGeom>
          <a:noFill/>
          <a:ln w="25400">
            <a:solidFill>
              <a:srgbClr val="00A6A6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035040" y="2898648"/>
            <a:ext cx="1188720" cy="0"/>
          </a:xfrm>
          <a:prstGeom prst="line">
            <a:avLst/>
          </a:prstGeom>
          <a:noFill/>
          <a:ln w="25400">
            <a:solidFill>
              <a:srgbClr val="00A6A6"/>
            </a:solidFill>
            <a:prstDash val="solid"/>
            <a:headEnd type="none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9418320" y="1069848"/>
            <a:ext cx="640080" cy="0"/>
          </a:xfrm>
          <a:prstGeom prst="line">
            <a:avLst/>
          </a:prstGeom>
          <a:noFill/>
          <a:ln w="25400">
            <a:solidFill>
              <a:srgbClr val="00A6A6"/>
            </a:solidFill>
            <a:prstDash val="solid"/>
            <a:headEnd type="none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418320" y="2898648"/>
            <a:ext cx="640080" cy="0"/>
          </a:xfrm>
          <a:prstGeom prst="line">
            <a:avLst/>
          </a:prstGeom>
          <a:noFill/>
          <a:ln w="25400">
            <a:solidFill>
              <a:srgbClr val="00A6A6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846320" y="2331720"/>
            <a:ext cx="0" cy="1645920"/>
          </a:xfrm>
          <a:prstGeom prst="line">
            <a:avLst/>
          </a:prstGeom>
          <a:noFill/>
          <a:ln w="25400">
            <a:solidFill>
              <a:srgbClr val="00A6A6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6035040" y="4361688"/>
            <a:ext cx="1188720" cy="0"/>
          </a:xfrm>
          <a:prstGeom prst="line">
            <a:avLst/>
          </a:prstGeom>
          <a:noFill/>
          <a:ln w="25400">
            <a:solidFill>
              <a:srgbClr val="00A6A6"/>
            </a:solidFill>
            <a:prstDash val="solid"/>
            <a:headEnd type="none"/>
            <a:tailEnd type="triangle"/>
          </a:ln>
        </p:spPr>
      </p:sp>
      <p:sp>
        <p:nvSpPr>
          <p:cNvPr id="27" name="Text 25"/>
          <p:cNvSpPr/>
          <p:nvPr/>
        </p:nvSpPr>
        <p:spPr>
          <a:xfrm>
            <a:off x="457200" y="516636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核心用户路径：定位 → 附近列表 → 详情（指标/评价）→ 步行导航；评价回流榜单与首页星级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57200" y="562356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底部导航三大 Tab（首页/榜单/我的）+ 金刚区快捷入口（地图/榜单/搜索历史）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6D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技术选型：成熟框架优先，不重复造轮子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11000232" y="329184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B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1127455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200400"/>
                <a:gridCol w="1554480"/>
                <a:gridCol w="5239512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层次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D6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选型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D6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版本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D6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选型理由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D6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开发语言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Kotlin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2.0.21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Google 官方首选：空安全、协程、代码量比 Java 少约 30%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构建体系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Gradle + AGP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8.9 / 8.7.3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官方构建链，依赖走阿里云镜像加速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UI 体系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View + ViewBinding + Material 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1.12.0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XML 与设计稿一一对应、资料最全；Material 组件白送底部导航/卡片/弹窗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本地存储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Room（SQLite ORM）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2.6.1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编译期校验 SQL、KSP 生成实现类，三表 + JOIN 聚合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地图能力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高德 SDK 组合包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11.3.x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定位/3D地图/POI/逆地理一站集成，个人免费配额充足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异步模型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Kotlin 协程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1.8.1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lifecycleScope + suspend，数据库网络不卡主线程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密码安全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SHA-256 + 随机盐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不存明文，盐值逐用户独立，彩虹表失效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6D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系统架构：三层分离 + 统一数据出口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11000232" y="329184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B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1274552" cy="1234440"/>
          </a:xfrm>
          <a:prstGeom prst="roundRect">
            <a:avLst>
              <a:gd name="adj" fmla="val 5926"/>
            </a:avLst>
          </a:prstGeom>
          <a:solidFill>
            <a:srgbClr val="F0FAFA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5331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D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界面层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847088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HomeFragment · RankingFragment · MineFragment · MapActivity · ToiletDetailActivity · LoginActivity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926080" y="1353312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只负责展示与交互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094476" y="2423160"/>
            <a:ext cx="0" cy="246888"/>
          </a:xfrm>
          <a:prstGeom prst="line">
            <a:avLst/>
          </a:prstGeom>
          <a:noFill/>
          <a:ln w="31750">
            <a:solidFill>
              <a:srgbClr val="00A6A6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57200" y="2670048"/>
            <a:ext cx="11274552" cy="1234440"/>
          </a:xfrm>
          <a:prstGeom prst="roundRect">
            <a:avLst>
              <a:gd name="adj" fmla="val 5926"/>
            </a:avLst>
          </a:prstGeom>
          <a:solidFill>
            <a:srgbClr val="E8F6F6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8346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D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数据仓库层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31520" y="332841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ToiletRepository（单例数据流水线）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926080" y="283464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 → 逆地理 → POI 检索 → Haversine 排序 → 缓存 → 聚合，首页/地图/榜单共用同一数据源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094476" y="3904488"/>
            <a:ext cx="0" cy="246888"/>
          </a:xfrm>
          <a:prstGeom prst="line">
            <a:avLst/>
          </a:prstGeom>
          <a:noFill/>
          <a:ln w="31750">
            <a:solidFill>
              <a:srgbClr val="00A6A6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57200" y="4151376"/>
            <a:ext cx="11274552" cy="1234440"/>
          </a:xfrm>
          <a:prstGeom prst="roundRect">
            <a:avLst>
              <a:gd name="adj" fmla="val 5926"/>
            </a:avLst>
          </a:prstGeom>
          <a:solidFill>
            <a:srgbClr val="F0FAFA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431596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D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数据层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731520" y="4809744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Room 数据库（toilets / reviews / users）＋ 高德 SDK ＋ SharedPreferences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926080" y="4315968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持久化、外部服务、轻量键值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57200" y="5806440"/>
            <a:ext cx="11274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6D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Repository 模式的收益：换数据源只改一层；首页与地图搜索结果永远一致；单元职责清晰，便于小组分工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6D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数据库设计：Room 三表（v3）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11000232" y="329184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B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822960" y="1463040"/>
            <a:ext cx="301752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12700">
            <a:solidFill>
              <a:srgbClr val="00A6A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463040"/>
            <a:ext cx="3017520" cy="22860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users（本地账号）</a:t>
            </a:r>
            <a:endParaRPr lang="en-US" sz="1350" dirty="0"/>
          </a:p>
          <a:p>
            <a:pPr algn="ctr" indent="0" marL="0">
              <a:buNone/>
            </a:pP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1B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id PK 自增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1B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username 唯一索引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1B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passwordHash + salt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1B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nickname / createdAt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0" y="1463040"/>
            <a:ext cx="3017520" cy="2743200"/>
          </a:xfrm>
          <a:prstGeom prst="roundRect">
            <a:avLst>
              <a:gd name="adj" fmla="val 2333"/>
            </a:avLst>
          </a:prstGeom>
          <a:solidFill>
            <a:srgbClr val="006D6D"/>
          </a:solidFill>
          <a:ln w="12700">
            <a:solidFill>
              <a:srgbClr val="00A6A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0" y="1463040"/>
            <a:ext cx="3017520" cy="2743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reviews（评价 · v3）</a:t>
            </a:r>
            <a:endParaRPr lang="en-US" sz="1350" dirty="0"/>
          </a:p>
          <a:p>
            <a:pPr algn="ctr" indent="0" marL="0">
              <a:buNone/>
            </a:pP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id PK 自增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toiletId FK → toilets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userId FK → users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rating 1~5 / content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tags 逗号分隔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paperStatus / sinkType / cleaned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8321040" y="1463040"/>
            <a:ext cx="301752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12700">
            <a:solidFill>
              <a:srgbClr val="00A6A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321040" y="1463040"/>
            <a:ext cx="3017520" cy="22860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toilets（POI 缓存）</a:t>
            </a:r>
            <a:endParaRPr lang="en-US" sz="1350" dirty="0"/>
          </a:p>
          <a:p>
            <a:pPr algn="ctr" indent="0" marL="0">
              <a:buNone/>
            </a:pP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1B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id PK = 高德 POI uid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1B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name / address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1B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lat / lng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1B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createdAt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3886200" y="2331720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6D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: 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858768" y="2514600"/>
            <a:ext cx="694944" cy="0"/>
          </a:xfrm>
          <a:prstGeom prst="line">
            <a:avLst/>
          </a:prstGeom>
          <a:noFill/>
          <a:ln w="25400">
            <a:solidFill>
              <a:srgbClr val="00A6A6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607808" y="2514600"/>
            <a:ext cx="694944" cy="0"/>
          </a:xfrm>
          <a:prstGeom prst="line">
            <a:avLst/>
          </a:prstGeom>
          <a:noFill/>
          <a:ln w="25400">
            <a:solidFill>
              <a:srgbClr val="00A6A6"/>
            </a:solidFill>
            <a:prstDash val="solid"/>
            <a:headEnd type="triangle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7662672" y="233172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6D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: 1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4160520"/>
            <a:ext cx="1127455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006D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合理性设计：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400" dirty="0">
                <a:solidFill>
                  <a:srgbClr val="1B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结构化数据进 Room（查询/聚合/唯一约束），轻量会话数据进 SharedPreferences 文件 —— 两级存储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400" dirty="0">
                <a:solidFill>
                  <a:srgbClr val="1B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toilets 主键直接复用高德 POI uid，地图兴趣点与数据库记录一一对应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400" dirty="0">
                <a:solidFill>
                  <a:srgbClr val="1B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密码经 SHA-256(salt+pwd) 哈希落库，不存明文；username 唯一索引防重复注册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400" dirty="0">
                <a:solidFill>
                  <a:srgbClr val="1B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LEFT JOIN 一次查询同时取回厕所与均分/评价数，避免 N+1 查询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6D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当前进度：核心闭环已全部跑通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11000232" y="329184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B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00A6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85%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整体完成度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（按计划功能点折算）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3749040"/>
            <a:ext cx="3291840" cy="274320"/>
          </a:xfrm>
          <a:prstGeom prst="roundRect">
            <a:avLst>
              <a:gd name="adj" fmla="val 46667"/>
            </a:avLst>
          </a:prstGeom>
          <a:solidFill>
            <a:srgbClr val="E5E7EB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3749040"/>
            <a:ext cx="2798064" cy="274320"/>
          </a:xfrm>
          <a:prstGeom prst="roundRect">
            <a:avLst>
              <a:gd name="adj" fmla="val 46667"/>
            </a:avLst>
          </a:prstGeom>
          <a:solidFill>
            <a:srgbClr val="00A6A6"/>
          </a:solidFill>
          <a:ln/>
        </p:spPr>
      </p:sp>
      <p:sp>
        <p:nvSpPr>
          <p:cNvPr id="8" name="Text 6"/>
          <p:cNvSpPr/>
          <p:nvPr/>
        </p:nvSpPr>
        <p:spPr>
          <a:xfrm>
            <a:off x="4206240" y="1325880"/>
            <a:ext cx="74980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50" dirty="0">
                <a:solidFill>
                  <a:srgbClr val="1B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定位蓝点 + 逆地理城市名 + 3km POI 搜索（真机验证通过）</a:t>
            </a:r>
            <a:endParaRPr lang="en-US" sz="145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50" dirty="0">
                <a:solidFill>
                  <a:srgbClr val="1B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Haversine 距离排序 + 地图 Marker + 点选跳转详情</a:t>
            </a:r>
            <a:endParaRPr lang="en-US" sz="145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50" dirty="0">
                <a:solidFill>
                  <a:srgbClr val="1B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点评式首页（四色信息流）+ 厕所指标卡（纸/洗手台/清理）</a:t>
            </a:r>
            <a:endParaRPr lang="en-US" sz="145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50" dirty="0">
                <a:solidFill>
                  <a:srgbClr val="1B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评价系统（登录 + 标签 + 指标）+ 好评榜/热评榜</a:t>
            </a:r>
            <a:endParaRPr lang="en-US" sz="145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50" dirty="0">
                <a:solidFill>
                  <a:srgbClr val="1B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本地账号（SHA-256 加盐）+ 演示数据一键生成</a:t>
            </a:r>
            <a:endParaRPr lang="en-US" sz="145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50" dirty="0">
                <a:solidFill>
                  <a:srgbClr val="1B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步行导航深链 + 网页回退（真机跳转验证通过）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4206240" y="4343400"/>
            <a:ext cx="7498080" cy="1417320"/>
          </a:xfrm>
          <a:prstGeom prst="roundRect">
            <a:avLst>
              <a:gd name="adj" fmla="val 5161"/>
            </a:avLst>
          </a:prstGeom>
          <a:solidFill>
            <a:srgbClr val="E8F6F6"/>
          </a:solidFill>
          <a:ln/>
        </p:spPr>
      </p:sp>
      <p:sp>
        <p:nvSpPr>
          <p:cNvPr id="10" name="Text 8"/>
          <p:cNvSpPr/>
          <p:nvPr/>
        </p:nvSpPr>
        <p:spPr>
          <a:xfrm>
            <a:off x="4480560" y="4526280"/>
            <a:ext cx="6949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006D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剩余工作（组员认领中）：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深色模式适配 · 收藏功能 · README 与项目主页 · 系统测试记录表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6D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迭代计划：两周内完成收尾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11000232" y="329184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B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289304"/>
            <a:ext cx="274320" cy="274320"/>
          </a:xfrm>
          <a:prstGeom prst="ellipse">
            <a:avLst/>
          </a:prstGeom>
          <a:solidFill>
            <a:srgbClr val="00A6A6"/>
          </a:solidFill>
          <a:ln/>
        </p:spPr>
      </p:sp>
      <p:sp>
        <p:nvSpPr>
          <p:cNvPr id="5" name="Shape 3"/>
          <p:cNvSpPr/>
          <p:nvPr/>
        </p:nvSpPr>
        <p:spPr>
          <a:xfrm>
            <a:off x="594360" y="1600200"/>
            <a:ext cx="0" cy="493776"/>
          </a:xfrm>
          <a:prstGeom prst="line">
            <a:avLst/>
          </a:prstGeom>
          <a:noFill/>
          <a:ln w="19050">
            <a:solidFill>
              <a:srgbClr val="D9E2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2344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1~2 周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2651760" y="123444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调研选题 · 技术预研（高德SDK/Room）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9418320" y="12344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6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已完成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093976"/>
            <a:ext cx="274320" cy="274320"/>
          </a:xfrm>
          <a:prstGeom prst="ellipse">
            <a:avLst/>
          </a:prstGeom>
          <a:solidFill>
            <a:srgbClr val="00A6A6"/>
          </a:solidFill>
          <a:ln/>
        </p:spPr>
      </p:sp>
      <p:sp>
        <p:nvSpPr>
          <p:cNvPr id="10" name="Shape 8"/>
          <p:cNvSpPr/>
          <p:nvPr/>
        </p:nvSpPr>
        <p:spPr>
          <a:xfrm>
            <a:off x="594360" y="2404872"/>
            <a:ext cx="0" cy="493776"/>
          </a:xfrm>
          <a:prstGeom prst="line">
            <a:avLst/>
          </a:prstGeom>
          <a:noFill/>
          <a:ln w="19050">
            <a:solidFill>
              <a:srgbClr val="D9E2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2039112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3~4 周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651760" y="2039112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环境搭建 · 地图/定位/POI 原型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9418320" y="203911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6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已完成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2898648"/>
            <a:ext cx="274320" cy="274320"/>
          </a:xfrm>
          <a:prstGeom prst="ellipse">
            <a:avLst/>
          </a:prstGeom>
          <a:solidFill>
            <a:srgbClr val="00A6A6"/>
          </a:solidFill>
          <a:ln/>
        </p:spPr>
      </p:sp>
      <p:sp>
        <p:nvSpPr>
          <p:cNvPr id="15" name="Shape 13"/>
          <p:cNvSpPr/>
          <p:nvPr/>
        </p:nvSpPr>
        <p:spPr>
          <a:xfrm>
            <a:off x="594360" y="3209544"/>
            <a:ext cx="0" cy="493776"/>
          </a:xfrm>
          <a:prstGeom prst="line">
            <a:avLst/>
          </a:prstGeom>
          <a:noFill/>
          <a:ln w="19050">
            <a:solidFill>
              <a:srgbClr val="D9E2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5840" y="2843784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5~6 周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651760" y="2843784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评价/指标/榜单/登录核心功能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9418320" y="2843784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6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已完成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3703320"/>
            <a:ext cx="274320" cy="274320"/>
          </a:xfrm>
          <a:prstGeom prst="ellipse">
            <a:avLst/>
          </a:prstGeom>
          <a:solidFill>
            <a:srgbClr val="00A6A6"/>
          </a:solidFill>
          <a:ln/>
        </p:spPr>
      </p:sp>
      <p:sp>
        <p:nvSpPr>
          <p:cNvPr id="20" name="Shape 18"/>
          <p:cNvSpPr/>
          <p:nvPr/>
        </p:nvSpPr>
        <p:spPr>
          <a:xfrm>
            <a:off x="594360" y="4014216"/>
            <a:ext cx="0" cy="493776"/>
          </a:xfrm>
          <a:prstGeom prst="line">
            <a:avLst/>
          </a:prstGeom>
          <a:noFill/>
          <a:ln w="19050">
            <a:solidFill>
              <a:srgbClr val="D9E2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" y="3648456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7 周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2651760" y="3648456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大众点评式界面重设计 + 指标卡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9418320" y="3648456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6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已完成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57200" y="4507992"/>
            <a:ext cx="274320" cy="274320"/>
          </a:xfrm>
          <a:prstGeom prst="ellipse">
            <a:avLst/>
          </a:prstGeom>
          <a:solidFill>
            <a:srgbClr val="FFB000"/>
          </a:solidFill>
          <a:ln/>
        </p:spPr>
      </p:sp>
      <p:sp>
        <p:nvSpPr>
          <p:cNvPr id="25" name="Shape 23"/>
          <p:cNvSpPr/>
          <p:nvPr/>
        </p:nvSpPr>
        <p:spPr>
          <a:xfrm>
            <a:off x="594360" y="4818888"/>
            <a:ext cx="0" cy="493776"/>
          </a:xfrm>
          <a:prstGeom prst="line">
            <a:avLst/>
          </a:prstGeom>
          <a:noFill/>
          <a:ln w="19050">
            <a:solidFill>
              <a:srgbClr val="D9E2E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05840" y="445312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8 周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2651760" y="4453128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测试记录 · README · 修缺陷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9418320" y="44531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进行中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457200" y="5312664"/>
            <a:ext cx="274320" cy="274320"/>
          </a:xfrm>
          <a:prstGeom prst="ellipse">
            <a:avLst/>
          </a:prstGeom>
          <a:solidFill>
            <a:srgbClr val="C7CDD4"/>
          </a:solidFill>
          <a:ln/>
        </p:spPr>
      </p:sp>
      <p:sp>
        <p:nvSpPr>
          <p:cNvPr id="30" name="Text 28"/>
          <p:cNvSpPr/>
          <p:nvPr/>
        </p:nvSpPr>
        <p:spPr>
          <a:xfrm>
            <a:off x="1005840" y="52578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9~10 周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2651760" y="525780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演示彩排 · 报告定稿 · 答辩准备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9418320" y="52578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计划中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6D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团队分工（2~4 人，含认领机制）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11000232" y="329184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B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7455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011680"/>
                <a:gridCol w="6062472"/>
                <a:gridCol w="1371600"/>
              </a:tblGrid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成员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D6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角色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D6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负责模块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D6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D6D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【组长姓名】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架构 / 主要开发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三层架构搭建、地图与 POI 搜索、Room 数据层、评价与指标体系、榜单、登录、界面重设计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进行中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【成员B】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功能开发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深色模式适配（values-night）、收藏功能（Room v3 迁移练习）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已认领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【成员C】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文档 / 测试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README 项目主页、系统测试记录表、演示脚本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已认领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206240"/>
            <a:ext cx="1127455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006D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协同机制：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400" dirty="0">
                <a:solidFill>
                  <a:srgbClr val="1B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GitHub 仓库（HeiCat233/lalmore）+ feature 分支 + Pull Request + 至少 1 人 review 后合并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400" dirty="0">
                <a:solidFill>
                  <a:srgbClr val="1B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commit 规范：feat / fix / docs / chore 前缀 + 中文描述；任务以 Issue 认领，看板跟踪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400" dirty="0">
                <a:solidFill>
                  <a:srgbClr val="1B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当前已完成 28 次规范提交，全部本地留存，期末前统一推送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6D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风险识别与应对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11000232" y="329184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B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371600" cy="1005840"/>
          </a:xfrm>
          <a:prstGeom prst="roundRect">
            <a:avLst>
              <a:gd name="adj" fmla="val 7273"/>
            </a:avLst>
          </a:prstGeom>
          <a:solidFill>
            <a:srgbClr val="FFF8E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1371600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低风险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057400" y="1207008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高德免费配额超限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2057400" y="1627632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个人认证每接口约 5000 次/日，演示与调试用量远低于配额；已做三层节省：POI 结果缓存进 Room、定位间隔 2 秒、搜索半径收敛 3km；超出配额仅调用失败不会扣费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450592"/>
            <a:ext cx="1371600" cy="1005840"/>
          </a:xfrm>
          <a:prstGeom prst="roundRect">
            <a:avLst>
              <a:gd name="adj" fmla="val 7273"/>
            </a:avLst>
          </a:prstGeom>
          <a:solidFill>
            <a:srgbClr val="E8F6F6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2450592"/>
            <a:ext cx="1371600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6D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已规避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057400" y="246888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无后端导致评价不互通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2057400" y="2889504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课程范围定位为本地闭环（评分标准只要求文件或数据库存储）；云端同步作为展望方向写入报告，架构上 Repository 单例已预留替换空间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712464"/>
            <a:ext cx="1371600" cy="1005840"/>
          </a:xfrm>
          <a:prstGeom prst="roundRect">
            <a:avLst>
              <a:gd name="adj" fmla="val 7273"/>
            </a:avLst>
          </a:prstGeom>
          <a:solidFill>
            <a:srgbClr val="FFF8E8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3712464"/>
            <a:ext cx="1371600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低风险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057400" y="3730752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真机兼容性差异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2057400" y="4151376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minSdk 26（Android 8.0）覆盖主流机型；已在 realme 真机全流程验证；高德 SDK 官方兼容矩阵覆盖目标版本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4974336"/>
            <a:ext cx="1371600" cy="1005840"/>
          </a:xfrm>
          <a:prstGeom prst="roundRect">
            <a:avLst>
              <a:gd name="adj" fmla="val 7273"/>
            </a:avLst>
          </a:prstGeom>
          <a:solidFill>
            <a:srgbClr val="FFF8E8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4974336"/>
            <a:ext cx="1371600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可控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057400" y="4992624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进度风险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2057400" y="5413248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核心闭环已 100% 跑通，剩余为文档与打磨类任务，通过 Issue 认领并行推进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57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4480560"/>
            <a:ext cx="3657600" cy="365760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0"/>
            <a:ext cx="112745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谢谢聆听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457200" y="3520440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9F2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恳请老师与同学批评指正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4572000"/>
            <a:ext cx="112745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ED4D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项目组：【组长姓名】·【成员B】·【成员C】    ·    仓库：github.com/HeiCat233/lalmore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附近厕所项目组</dc:creator>
  <cp:lastModifiedBy>附近厕所项目组</cp:lastModifiedBy>
  <cp:revision>1</cp:revision>
  <dcterms:created xsi:type="dcterms:W3CDTF">2026-10-03T10:46:33Z</dcterms:created>
  <dcterms:modified xsi:type="dcterms:W3CDTF">2026-10-03T10:46:33Z</dcterms:modified>
</cp:coreProperties>
</file>